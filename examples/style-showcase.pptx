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2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3.xml" ContentType="application/vnd.openxmlformats-officedocument.drawingml.chart+xml"/>
  <Override PartName="/ppt/notesSlides/notesSlide3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05422ac5c7e479c" /><Relationship Type="http://schemas.openxmlformats.org/officeDocument/2006/relationships/extended-properties" Target="/docProps/app.xml" Id="Rb73db2c679434417" /><Relationship Type="http://schemas.openxmlformats.org/officeDocument/2006/relationships/officeDocument" Target="/ppt/presentation.xml" Id="R138960b8d4ac44e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0ddc70475424412"/>
  </p:sldMasterIdLst>
  <p:notesMasterIdLst>
    <p:notesMasterId xmlns:r="http://schemas.openxmlformats.org/officeDocument/2006/relationships" r:id="R6a668803d15948f5"/>
  </p:notesMasterIdLst>
  <p:sldIdLst>
    <p:sldId xmlns:r="http://schemas.openxmlformats.org/officeDocument/2006/relationships" id="256" r:id="R307ff5cf3afd4a44"/>
    <p:sldId xmlns:r="http://schemas.openxmlformats.org/officeDocument/2006/relationships" id="257" r:id="Rde407eb5d35a4a1e"/>
    <p:sldId xmlns:r="http://schemas.openxmlformats.org/officeDocument/2006/relationships" id="258" r:id="R7e4ac88f7fe9433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90549c60c7e4d44" /><Relationship Type="http://schemas.openxmlformats.org/officeDocument/2006/relationships/slideMaster" Target="/ppt/slideMasters/slideMaster1.xml" Id="R90ddc70475424412" /><Relationship Type="http://schemas.openxmlformats.org/officeDocument/2006/relationships/notesMaster" Target="/ppt/notesMasters/notesMaster1.xml" Id="R6a668803d15948f5" /><Relationship Type="http://schemas.openxmlformats.org/officeDocument/2006/relationships/presProps" Target="/ppt/presProps.xml" Id="R4a4b77c1b7e14b5f" /><Relationship Type="http://schemas.openxmlformats.org/officeDocument/2006/relationships/tableStyles" Target="/ppt/tableStyles.xml" Id="Rdd0dec23693d4bf2" /><Relationship Type="http://schemas.openxmlformats.org/officeDocument/2006/relationships/slide" Target="/ppt/slides/slide1.xml" Id="R307ff5cf3afd4a44" /><Relationship Type="http://schemas.openxmlformats.org/officeDocument/2006/relationships/slide" Target="/ppt/slides/slide2.xml" Id="Rde407eb5d35a4a1e" /><Relationship Type="http://schemas.openxmlformats.org/officeDocument/2006/relationships/slide" Target="/ppt/slides/slide3.xml" Id="R7e4ac88f7fe943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59545308a224ca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b7f5d549675487f" /><Relationship Type="http://schemas.openxmlformats.org/officeDocument/2006/relationships/notesMaster" Target="/ppt/notesMasters/notesMaster1.xml" Id="Rac6546fb42ab4220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0721c81ff744c5f" /><Relationship Type="http://schemas.openxmlformats.org/officeDocument/2006/relationships/notesMaster" Target="/ppt/notesMasters/notesMaster1.xml" Id="R059dd915982749c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c3728b4b6524ba3" /><Relationship Type="http://schemas.openxmlformats.org/officeDocument/2006/relationships/notesMaster" Target="/ppt/notesMasters/notesMaster1.xml" Id="R60c624d586b6470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本页使用虚构数据演示 SlideLoom 的视觉预设，不代表真实企业或研究。旧方案 54/100，新方案 72/100。差异为 18 个百分点，不能据此作因果推断。图表为原生图表，来源为本仓库 examples/storyboard.md 的示例情境。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本页使用虚构数据演示 SlideLoom 的视觉预设，不代表真实企业或研究。旧方案 54/100，新方案 72/100。差异为 18 个百分点，不能据此作因果推断。图表为原生图表，来源为本仓库 examples/storyboard.md 的示例情境。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本页使用虚构数据演示 SlideLoom 的视觉预设，不代表真实企业或研究。旧方案 54/100，新方案 72/100。差异为 18 个百分点，不能据此作因果推断。图表为原生图表，来源为本仓库 examples/storyboard.md 的示例情境。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856c61a6314e7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8484aed16e4b97" /><Relationship Type="http://schemas.openxmlformats.org/officeDocument/2006/relationships/slideLayout" Target="/ppt/slideLayouts/slideLayout1.xml" Id="R5f434d04786747c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f434d04786747c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64b7a056a44d9f" /><Relationship Type="http://schemas.openxmlformats.org/officeDocument/2006/relationships/chart" Target="/ppt/slides/charts/chart1.xml" Id="Rc52b6876d35d4e46" /><Relationship Type="http://schemas.openxmlformats.org/officeDocument/2006/relationships/notesSlide" Target="/ppt/notesSlides/notesSlide1.xml" Id="R11c0170b2c764d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0cf039be784925" /><Relationship Type="http://schemas.openxmlformats.org/officeDocument/2006/relationships/chart" Target="/ppt/slides/charts/chart2.xml" Id="Rb7a6fb7247364b39" /><Relationship Type="http://schemas.openxmlformats.org/officeDocument/2006/relationships/notesSlide" Target="/ppt/notesSlides/notesSlide2.xml" Id="R81fbb81c88aa4d4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67bb5d610f4ad7" /><Relationship Type="http://schemas.openxmlformats.org/officeDocument/2006/relationships/chart" Target="/ppt/slides/charts/chart3.xml" Id="R398444593ec44967" /><Relationship Type="http://schemas.openxmlformats.org/officeDocument/2006/relationships/notesSlide" Target="/ppt/notesSlides/notesSlide3.xml" Id="R7dea7af77fdb4b8a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任务完成率</c:v>
          </c:tx>
          <c:spPr>
            <a:solidFill xmlns:a="http://schemas.openxmlformats.org/drawingml/2006/main">
              <a:srgbClr val="A9EACB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AAC6F7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A9EACB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旧方案</c:v>
                </c:pt>
                <c:pt idx="1">
                  <c:v>新方案</c:v>
                </c:pt>
              </c:strCache>
            </c:strRef>
          </c:cat>
          <c:val>
            <c:numRef>
              <c:f>'Chart Data'!$B$2:$B$3</c:f>
              <c:numCache>
                <c:formatCode>0"%"</c:formatCode>
                <c:ptCount val="2"/>
                <c:pt idx="0">
                  <c:v>54</c:v>
                </c:pt>
                <c:pt idx="1">
                  <c:v>72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 b="1">
                  <a:solidFill>
                    <a:srgbClr val="F2F7F4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7BAB8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2F7F4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2858">
              <a:solidFill>
                <a:srgbClr val="A7BAB8"/>
              </a:solidFill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A7BAB8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25"/>
      </c:valAx>
      <c:spPr>
        <a:solidFill xmlns:a="http://schemas.openxmlformats.org/drawingml/2006/main">
          <a:srgbClr val="101B25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101B25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任务完成率</c:v>
          </c:tx>
          <c:spPr>
            <a:solidFill xmlns:a="http://schemas.openxmlformats.org/drawingml/2006/main">
              <a:srgbClr val="B53D2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546B54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B53D2A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旧方案</c:v>
                </c:pt>
                <c:pt idx="1">
                  <c:v>新方案</c:v>
                </c:pt>
              </c:strCache>
            </c:strRef>
          </c:cat>
          <c:val>
            <c:numRef>
              <c:f>'Chart Data'!$B$2:$B$3</c:f>
              <c:numCache>
                <c:formatCode>0"%"</c:formatCode>
                <c:ptCount val="2"/>
                <c:pt idx="0">
                  <c:v>54</c:v>
                </c:pt>
                <c:pt idx="1">
                  <c:v>72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 b="1">
                  <a:solidFill>
                    <a:srgbClr val="272822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6D6C60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27282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2858">
              <a:solidFill>
                <a:srgbClr val="6D6C60"/>
              </a:solidFill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6D6C60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25"/>
      </c:valAx>
      <c:spPr>
        <a:solidFill xmlns:a="http://schemas.openxmlformats.org/drawingml/2006/main">
          <a:srgbClr val="F6F1E7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6F1E7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任务完成率</c:v>
          </c:tx>
          <c:spPr>
            <a:solidFill xmlns:a="http://schemas.openxmlformats.org/drawingml/2006/main">
              <a:srgbClr val="2859C5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77D73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859C5"/>
              </a:solidFill>
            </c:spPr>
          </c:dPt>
          <c:cat>
            <c:strRef>
              <c:f>'Chart Data'!$A$2:$A$3</c:f>
              <c:strCache>
                <c:ptCount val="2"/>
                <c:pt idx="0">
                  <c:v>旧方案</c:v>
                </c:pt>
                <c:pt idx="1">
                  <c:v>新方案</c:v>
                </c:pt>
              </c:strCache>
            </c:strRef>
          </c:cat>
          <c:val>
            <c:numRef>
              <c:f>'Chart Data'!$B$2:$B$3</c:f>
              <c:numCache>
                <c:formatCode>0"%"</c:formatCode>
                <c:ptCount val="2"/>
                <c:pt idx="0">
                  <c:v>54</c:v>
                </c:pt>
                <c:pt idx="1">
                  <c:v>72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2100" b="1">
                  <a:solidFill>
                    <a:srgbClr val="112851"/>
                  </a:solidFill>
                  <a:latin typeface="Arial Unicode MS"/>
                  <a:ea typeface="Arial Unicode MS"/>
                  <a:cs typeface="Arial Unicode M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4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4C6382"/>
            </a:solidFill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112851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72768"/>
      </c:catAx>
      <c:valAx>
        <c:axId val="48672768"/>
        <c:scaling>
          <c:orientation val="minMax"/>
          <c:max val="100"/>
          <c:min val="0"/>
        </c:scaling>
        <c:delete val="0"/>
        <c:axPos val="l"/>
        <c:majorGridlines>
          <c:spPr>
            <a:ln xmlns:a="http://schemas.openxmlformats.org/drawingml/2006/main" w="2858">
              <a:solidFill>
                <a:srgbClr val="4C6382"/>
              </a:solidFill>
            </a:ln>
          </c:spPr>
        </c:majorGridlines>
        <c:numFmt formatCode="0&quot;%&quot;"/>
        <c:majorTickMark val="none"/>
        <c:minorTickMark val="none"/>
        <c:spPr>
          <a:ln xmlns:a="http://schemas.openxmlformats.org/drawingml/2006/main" w="0">
            <a:noFill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4C6382"/>
                </a:solidFill>
                <a:latin typeface="Arial Unicode MS"/>
                <a:ea typeface="Arial Unicode MS"/>
                <a:cs typeface="Arial Unicode MS"/>
              </a:defRPr>
            </a:pPr>
          </a:p>
        </c:txPr>
        <c:crossAx val="48650112"/>
        <c:crossBetween val="between"/>
        <c:majorUnit val="25"/>
      </c:valAx>
      <c:spPr>
        <a:solidFill xmlns:a="http://schemas.openxmlformats.org/drawingml/2006/main">
          <a:srgbClr val="F4F7FC"/>
        </a:solidFill>
        <a:ln xmlns:a="http://schemas.openxmlformats.org/drawingml/2006/main" w="0">
          <a:noFill/>
        </a:ln>
      </c:spPr>
    </c:plotArea>
    <c:plotVisOnly val="1"/>
  </c:chart>
  <c:spPr>
    <a:solidFill xmlns:a="http://schemas.openxmlformats.org/drawingml/2006/main">
      <a:srgbClr val="F4F7FC"/>
    </a:solidFill>
    <a:ln xmlns:a="http://schemas.openxmlformats.org/drawingml/2006/main" w="0">
      <a:noFill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B2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9E73E5-6F61-40CF-9ED9-A5514546C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A9EAC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A9EACB"/>
                </a:solidFill>
                <a:latin typeface="Arial Unicode MS"/>
                <a:ea typeface="Arial Unicode MS"/>
                <a:cs typeface="Arial Unicode MS"/>
              </a:rPr>
              <a:t>Midnight · 午夜发布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B76E57-76DB-4843-9BBA-3ED0D522A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90600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050" b="1">
                <a:solidFill>
                  <a:srgbClr val="F2F7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050" b="1">
                <a:solidFill>
                  <a:srgbClr val="F2F7F4"/>
                </a:solidFill>
                <a:latin typeface="Arial Unicode MS"/>
                <a:ea typeface="Arial Unicode MS"/>
                <a:cs typeface="Arial Unicode MS"/>
              </a:rPr>
              <a:t>完成率相差 18 个百分点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1B9027-C202-41D7-8160-881A54837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39052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1550" b="1">
                <a:solidFill>
                  <a:srgbClr val="A9EACB"/>
                </a:solidFill>
                <a:latin typeface="Helvetica Neue"/>
                <a:ea typeface="Helvetica Neue"/>
                <a:cs typeface="Helvetica Neue"/>
              </a:defRPr>
            </a:pPr>
            <a:r>
              <a:rPr sz="11550" b="1">
                <a:solidFill>
                  <a:srgbClr val="A9EACB"/>
                </a:solidFill>
                <a:latin typeface="Helvetica Neue"/>
                <a:ea typeface="Helvetica Neue"/>
                <a:cs typeface="Helvetica Neue"/>
              </a:rPr>
              <a:t>18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7F450C-4DBC-40CA-948E-584E3423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3943350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250" b="0">
                <a:solidFill>
                  <a:srgbClr val="F2F7F4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250" b="0">
                <a:solidFill>
                  <a:srgbClr val="F2F7F4"/>
                </a:solidFill>
                <a:latin typeface="Arial Unicode MS"/>
                <a:ea typeface="Arial Unicode MS"/>
                <a:cs typeface="Arial Unicode MS"/>
              </a:rPr>
              <a:t>个百分点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E4D44-9F01-4E44-98A4-A64343671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" y="4610100"/>
            <a:ext cx="41910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025" b="0">
                <a:solidFill>
                  <a:srgbClr val="A7BA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A7BAB8"/>
                </a:solidFill>
                <a:latin typeface="Arial Unicode MS"/>
                <a:ea typeface="Arial Unicode MS"/>
                <a:cs typeface="Arial Unicode MS"/>
              </a:rPr>
              <a:t>同一任务，两种首次使用流程。</a:t>
            </a:r>
          </a:p>
          <a:p xmlns:a="http://schemas.openxmlformats.org/drawingml/2006/main">
            <a:pPr>
              <a:defRPr sz="2025" b="0">
                <a:solidFill>
                  <a:srgbClr val="A7BA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025" b="0">
                <a:solidFill>
                  <a:srgbClr val="A7BAB8"/>
                </a:solidFill>
                <a:latin typeface="Arial Unicode MS"/>
                <a:ea typeface="Arial Unicode MS"/>
                <a:cs typeface="Arial Unicode MS"/>
              </a:rPr>
              <a:t>下一步验证差异能否复现。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5429250" y="2238375"/>
          <a:ext xmlns:a="http://schemas.openxmlformats.org/drawingml/2006/main" cx="6000750" cy="33909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52b6876d35d4e46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9A8909-5F80-4891-8E3D-BCFDB5DC7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A7BAB8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A7BAB8"/>
                </a:solidFill>
                <a:latin typeface="Arial Unicode MS"/>
                <a:ea typeface="Arial Unicode MS"/>
                <a:cs typeface="Arial Unicode MS"/>
              </a:rPr>
              <a:t>虚构演示数据：两组各 100 次试用，分别完成 54 次与 72 次；未提供随机分组及统计检验。</a:t>
            </a:r>
          </a:p>
        </p:txBody>
      </p:sp>
    </p:spTree>
    <p:extLst>
      <p:ext uri="{BB962C8B-B14F-4D97-AF65-F5344CB8AC3E}">
        <p14:creationId xmlns:p14="http://schemas.microsoft.com/office/powerpoint/2010/main" val="209133666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1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FCD4C9-468B-4E73-BABB-0A1E51F9E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B53D2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B53D2A"/>
                </a:solidFill>
                <a:latin typeface="Arial Unicode MS"/>
                <a:ea typeface="Arial Unicode MS"/>
                <a:cs typeface="Arial Unicode MS"/>
              </a:rPr>
              <a:t>Editorial · 纸上观点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92323B-12C4-4D43-87D8-1AA082E8F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14400"/>
            <a:ext cx="109728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4500" b="0">
                <a:solidFill>
                  <a:srgbClr val="272822"/>
                </a:solidFill>
                <a:latin typeface="Songti SC"/>
                <a:ea typeface="Songti SC"/>
                <a:cs typeface="Songti SC"/>
              </a:defRPr>
            </a:pPr>
            <a:r>
              <a:rPr sz="4500" b="0">
                <a:solidFill>
                  <a:srgbClr val="272822"/>
                </a:solidFill>
                <a:latin typeface="Songti SC"/>
                <a:ea typeface="Songti SC"/>
                <a:cs typeface="Songti SC"/>
              </a:rPr>
              <a:t>同一任务的两种体验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551A57D-AB2C-4E8C-AAC3-F72DF297F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1933575"/>
            <a:ext cx="4667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5100" b="0">
                <a:solidFill>
                  <a:srgbClr val="B53D2A"/>
                </a:solidFill>
                <a:latin typeface="Georgia"/>
                <a:ea typeface="Georgia"/>
                <a:cs typeface="Georgia"/>
              </a:defRPr>
            </a:pPr>
            <a:r>
              <a:rPr sz="5100" b="0">
                <a:solidFill>
                  <a:srgbClr val="B53D2A"/>
                </a:solidFill>
                <a:latin typeface="Georgia"/>
                <a:ea typeface="Georgia"/>
                <a:cs typeface="Georgia"/>
              </a:rPr>
              <a:t>54% 与 72%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3A0E6B8-C313-4282-BBF5-25C7442AB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057525"/>
            <a:ext cx="428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75" b="0">
                <a:solidFill>
                  <a:srgbClr val="27282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75" b="0">
                <a:solidFill>
                  <a:srgbClr val="272822"/>
                </a:solidFill>
                <a:latin typeface="Arial Unicode MS"/>
                <a:ea typeface="Arial Unicode MS"/>
                <a:cs typeface="Arial Unicode MS"/>
              </a:rPr>
              <a:t>完成率相差 18 个百分点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4116DF-72B3-4995-B11D-5926A7624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3981450"/>
            <a:ext cx="4286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950" b="0">
                <a:solidFill>
                  <a:srgbClr val="6D6C6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D6C60"/>
                </a:solidFill>
                <a:latin typeface="Arial Unicode MS"/>
                <a:ea typeface="Arial Unicode MS"/>
                <a:cs typeface="Arial Unicode MS"/>
              </a:rPr>
              <a:t>先呈现观察，再讨论解释。</a:t>
            </a:r>
          </a:p>
          <a:p xmlns:a="http://schemas.openxmlformats.org/drawingml/2006/main">
            <a:pPr>
              <a:defRPr sz="1950" b="0">
                <a:solidFill>
                  <a:srgbClr val="6D6C6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950" b="0">
                <a:solidFill>
                  <a:srgbClr val="6D6C60"/>
                </a:solidFill>
                <a:latin typeface="Arial Unicode MS"/>
                <a:ea typeface="Arial Unicode MS"/>
                <a:cs typeface="Arial Unicode MS"/>
              </a:rPr>
              <a:t>还需验证人群与任务的差异。</a:t>
            </a:r>
          </a:p>
        </p:txBody>
      </p:sp>
      <p:graphicFrame>
        <p:nvGraphicFramePr>
          <p:cNvPr id="13" name="Chart"/>
          <p:cNvGraphicFramePr/>
          <p:nvPr/>
        </p:nvGraphicFramePr>
        <p:xfrm>
          <a:off xmlns:a="http://schemas.openxmlformats.org/drawingml/2006/main" x="5524500" y="2009775"/>
          <a:ext xmlns:a="http://schemas.openxmlformats.org/drawingml/2006/main" cx="5905500" cy="34575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7a6fb7247364b39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CA0B44-D490-4109-A34D-51357192E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6D6C60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6D6C60"/>
                </a:solidFill>
                <a:latin typeface="Arial Unicode MS"/>
                <a:ea typeface="Arial Unicode MS"/>
                <a:cs typeface="Arial Unicode MS"/>
              </a:rPr>
              <a:t>虚构演示数据：两组各 100 次试用，分别完成 54 次与 72 次；未提供随机分组及统计检验。</a:t>
            </a:r>
          </a:p>
        </p:txBody>
      </p:sp>
    </p:spTree>
    <p:extLst>
      <p:ext uri="{BB962C8B-B14F-4D97-AF65-F5344CB8AC3E}">
        <p14:creationId xmlns:p14="http://schemas.microsoft.com/office/powerpoint/2010/main" val="75395638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7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24E6A3C-86F1-49A7-B71E-4A251C163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9728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2859C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650" b="1">
                <a:solidFill>
                  <a:srgbClr val="2859C5"/>
                </a:solidFill>
                <a:latin typeface="Arial Unicode MS"/>
                <a:ea typeface="Arial Unicode MS"/>
                <a:cs typeface="Arial Unicode MS"/>
              </a:rPr>
              <a:t>Blueprint · 清晰蓝图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3E4839F-C008-4980-9CEF-6787F4F65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962025"/>
            <a:ext cx="109728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3750" b="1">
                <a:solidFill>
                  <a:srgbClr val="11285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750" b="1">
                <a:solidFill>
                  <a:srgbClr val="112851"/>
                </a:solidFill>
                <a:latin typeface="Arial Unicode MS"/>
                <a:ea typeface="Arial Unicode MS"/>
                <a:cs typeface="Arial Unicode MS"/>
              </a:rPr>
              <a:t>首次使用流程的完成率对比</a:t>
            </a:r>
          </a:p>
        </p:txBody>
      </p:sp>
      <p:graphicFrame>
        <p:nvGraphicFramePr>
          <p:cNvPr id="11" name="Chart"/>
          <p:cNvGraphicFramePr/>
          <p:nvPr/>
        </p:nvGraphicFramePr>
        <p:xfrm>
          <a:off xmlns:a="http://schemas.openxmlformats.org/drawingml/2006/main" x="609600" y="2295525"/>
          <a:ext xmlns:a="http://schemas.openxmlformats.org/drawingml/2006/main" cx="6286500" cy="3286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98444593ec44967"/>
          </a:graphicData>
        </a:graphic>
      </p:graphicFrame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336033-D6E9-4B32-9B9F-6D2FFA62D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2400300"/>
            <a:ext cx="3619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2859C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2859C5"/>
                </a:solidFill>
                <a:latin typeface="Arial Unicode MS"/>
                <a:ea typeface="Arial Unicode MS"/>
                <a:cs typeface="Arial Unicode MS"/>
              </a:rPr>
              <a:t>观察结果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2C1E5F-E7D5-431D-B6B2-8FDE021E1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1425" y="2962275"/>
            <a:ext cx="3714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6000" b="1">
                <a:solidFill>
                  <a:srgbClr val="112851"/>
                </a:solidFill>
                <a:latin typeface="Helvetica Neue"/>
                <a:ea typeface="Helvetica Neue"/>
                <a:cs typeface="Helvetica Neue"/>
              </a:defRPr>
            </a:pPr>
            <a:r>
              <a:rPr sz="6000" b="1">
                <a:solidFill>
                  <a:srgbClr val="112851"/>
                </a:solidFill>
                <a:latin typeface="Helvetica Neue"/>
                <a:ea typeface="Helvetica Neue"/>
                <a:cs typeface="Helvetica Neue"/>
              </a:rPr>
              <a:t>+18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E92A1E-9955-4922-8876-F2ED3C5CB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057650"/>
            <a:ext cx="3619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2100" b="0">
                <a:solidFill>
                  <a:srgbClr val="112851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100" b="0">
                <a:solidFill>
                  <a:srgbClr val="112851"/>
                </a:solidFill>
                <a:latin typeface="Arial Unicode MS"/>
                <a:ea typeface="Arial Unicode MS"/>
                <a:cs typeface="Arial Unicode MS"/>
              </a:rPr>
              <a:t>个百分点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72E51A3-EA7B-4BC2-8FF3-70C2FCBB9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39050" y="4752975"/>
            <a:ext cx="3714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800" b="0">
                <a:solidFill>
                  <a:srgbClr val="4C638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4C6382"/>
                </a:solidFill>
                <a:latin typeface="Arial Unicode MS"/>
                <a:ea typeface="Arial Unicode MS"/>
                <a:cs typeface="Arial Unicode MS"/>
              </a:rPr>
              <a:t>结果需要继续验证，</a:t>
            </a:r>
          </a:p>
          <a:p xmlns:a="http://schemas.openxmlformats.org/drawingml/2006/main">
            <a:pPr>
              <a:defRPr sz="1800" b="0">
                <a:solidFill>
                  <a:srgbClr val="4C638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4C6382"/>
                </a:solidFill>
                <a:latin typeface="Arial Unicode MS"/>
                <a:ea typeface="Arial Unicode MS"/>
                <a:cs typeface="Arial Unicode MS"/>
              </a:rPr>
              <a:t>当前数据不足以支持因果推断。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08948C-C5A0-496A-A11D-ECF39210A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57900"/>
            <a:ext cx="1097280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>
              <a:defRPr sz="1350" b="0">
                <a:solidFill>
                  <a:srgbClr val="4C6382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0">
                <a:solidFill>
                  <a:srgbClr val="4C6382"/>
                </a:solidFill>
                <a:latin typeface="Arial Unicode MS"/>
                <a:ea typeface="Arial Unicode MS"/>
                <a:cs typeface="Arial Unicode MS"/>
              </a:rPr>
              <a:t>虚构演示数据：两组各 100 次试用，分别完成 54 次与 72 次；未提供随机分组及统计检验。</a:t>
            </a:r>
          </a:p>
        </p:txBody>
      </p:sp>
    </p:spTree>
    <p:extLst>
      <p:ext uri="{BB962C8B-B14F-4D97-AF65-F5344CB8AC3E}">
        <p14:creationId xmlns:p14="http://schemas.microsoft.com/office/powerpoint/2010/main" val="170730455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2026-09-25T09:03:37.8510000Z</dcterms:created>
  <dcterms:modified xsi:type="dcterms:W3CDTF">2026-09-25T09:03:37.8510000Z</dcterms:modified>
</coreProperties>
</file>